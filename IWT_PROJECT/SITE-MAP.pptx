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4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9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4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0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2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0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2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2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9364E-7488-4961-8105-571254405CAD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4AE75-2047-4AAC-9294-C1CE45B3A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2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E12E67-AB84-B213-D996-5430C78F4F78}"/>
              </a:ext>
            </a:extLst>
          </p:cNvPr>
          <p:cNvSpPr txBox="1"/>
          <p:nvPr/>
        </p:nvSpPr>
        <p:spPr>
          <a:xfrm>
            <a:off x="828865" y="11656"/>
            <a:ext cx="106678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u="sng"/>
              <a:t>SITE-MAP</a:t>
            </a:r>
            <a:endParaRPr lang="en-US" sz="2300" b="1" u="sng" dirty="0"/>
          </a:p>
          <a:p>
            <a:pPr algn="ctr"/>
            <a:r>
              <a:rPr lang="en-US" sz="2000" b="1" u="sng" dirty="0">
                <a:solidFill>
                  <a:srgbClr val="FF0000"/>
                </a:solidFill>
              </a:rPr>
              <a:t>STREAMIFY: A MUSIC STREAMING PLATFORM [ACADEMIC PROJECT]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9E7756-7DF8-C1AA-9A83-7662A500D5B6}"/>
              </a:ext>
            </a:extLst>
          </p:cNvPr>
          <p:cNvSpPr/>
          <p:nvPr/>
        </p:nvSpPr>
        <p:spPr>
          <a:xfrm>
            <a:off x="5294531" y="740089"/>
            <a:ext cx="2049989" cy="2984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streamify.com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5C86B1-5F8A-1789-3E7F-557C5AD83817}"/>
              </a:ext>
            </a:extLst>
          </p:cNvPr>
          <p:cNvCxnSpPr>
            <a:cxnSpLocks/>
          </p:cNvCxnSpPr>
          <p:nvPr/>
        </p:nvCxnSpPr>
        <p:spPr>
          <a:xfrm flipH="1">
            <a:off x="6319525" y="1016837"/>
            <a:ext cx="1" cy="218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A11E86-95C5-29D7-BCB7-93A263A2BD9A}"/>
              </a:ext>
            </a:extLst>
          </p:cNvPr>
          <p:cNvSpPr/>
          <p:nvPr/>
        </p:nvSpPr>
        <p:spPr>
          <a:xfrm>
            <a:off x="5604495" y="1238975"/>
            <a:ext cx="1366334" cy="34779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HOMEPAGE</a:t>
            </a:r>
          </a:p>
        </p:txBody>
      </p:sp>
      <p:pic>
        <p:nvPicPr>
          <p:cNvPr id="11" name="Graphic 10" descr="House with solid fill">
            <a:extLst>
              <a:ext uri="{FF2B5EF4-FFF2-40B4-BE49-F238E27FC236}">
                <a16:creationId xmlns:a16="http://schemas.microsoft.com/office/drawing/2014/main" id="{9470640D-CABE-747E-78B7-C072C43F7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1320" y="1226523"/>
            <a:ext cx="255912" cy="2559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6FCAA3-5EEB-5CFA-77CE-C7A24532A3D5}"/>
              </a:ext>
            </a:extLst>
          </p:cNvPr>
          <p:cNvCxnSpPr>
            <a:cxnSpLocks/>
          </p:cNvCxnSpPr>
          <p:nvPr/>
        </p:nvCxnSpPr>
        <p:spPr>
          <a:xfrm>
            <a:off x="6328477" y="1780980"/>
            <a:ext cx="0" cy="282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CE7309-AC5A-A406-07D9-00AB6D4C1FD4}"/>
              </a:ext>
            </a:extLst>
          </p:cNvPr>
          <p:cNvCxnSpPr>
            <a:cxnSpLocks/>
          </p:cNvCxnSpPr>
          <p:nvPr/>
        </p:nvCxnSpPr>
        <p:spPr>
          <a:xfrm flipV="1">
            <a:off x="376967" y="1784238"/>
            <a:ext cx="12212836" cy="6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49FE53-ADC9-FFA6-9B8F-E924B65E13A0}"/>
              </a:ext>
            </a:extLst>
          </p:cNvPr>
          <p:cNvCxnSpPr>
            <a:cxnSpLocks/>
          </p:cNvCxnSpPr>
          <p:nvPr/>
        </p:nvCxnSpPr>
        <p:spPr>
          <a:xfrm>
            <a:off x="371711" y="1790711"/>
            <a:ext cx="0" cy="253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2FED9B-24BC-BC2D-D8AB-258F85D21EE8}"/>
              </a:ext>
            </a:extLst>
          </p:cNvPr>
          <p:cNvCxnSpPr>
            <a:cxnSpLocks/>
          </p:cNvCxnSpPr>
          <p:nvPr/>
        </p:nvCxnSpPr>
        <p:spPr>
          <a:xfrm>
            <a:off x="9135208" y="1780980"/>
            <a:ext cx="0" cy="385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DE4A45-0E63-AEA3-176D-8A564D475462}"/>
              </a:ext>
            </a:extLst>
          </p:cNvPr>
          <p:cNvCxnSpPr>
            <a:cxnSpLocks/>
          </p:cNvCxnSpPr>
          <p:nvPr/>
        </p:nvCxnSpPr>
        <p:spPr>
          <a:xfrm flipH="1">
            <a:off x="6322421" y="1586774"/>
            <a:ext cx="12001" cy="217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BE15AF-AF64-6884-E9C7-E1CBC311A83C}"/>
              </a:ext>
            </a:extLst>
          </p:cNvPr>
          <p:cNvCxnSpPr>
            <a:cxnSpLocks/>
          </p:cNvCxnSpPr>
          <p:nvPr/>
        </p:nvCxnSpPr>
        <p:spPr>
          <a:xfrm>
            <a:off x="3376768" y="1780980"/>
            <a:ext cx="0" cy="166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C935BF-926E-1B7F-38DB-A2D3C520915A}"/>
              </a:ext>
            </a:extLst>
          </p:cNvPr>
          <p:cNvCxnSpPr>
            <a:cxnSpLocks/>
          </p:cNvCxnSpPr>
          <p:nvPr/>
        </p:nvCxnSpPr>
        <p:spPr>
          <a:xfrm>
            <a:off x="10487431" y="1802763"/>
            <a:ext cx="0" cy="2213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Single Corner Rounded 47">
            <a:extLst>
              <a:ext uri="{FF2B5EF4-FFF2-40B4-BE49-F238E27FC236}">
                <a16:creationId xmlns:a16="http://schemas.microsoft.com/office/drawing/2014/main" id="{6FAB054E-D8F8-BBC8-6B09-8CFB7FDF8370}"/>
              </a:ext>
            </a:extLst>
          </p:cNvPr>
          <p:cNvSpPr/>
          <p:nvPr/>
        </p:nvSpPr>
        <p:spPr>
          <a:xfrm>
            <a:off x="83176" y="2061937"/>
            <a:ext cx="1385949" cy="868149"/>
          </a:xfrm>
          <a:prstGeom prst="round1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1.HOMEPAGE STRUCTURE</a:t>
            </a:r>
          </a:p>
        </p:txBody>
      </p:sp>
      <p:sp>
        <p:nvSpPr>
          <p:cNvPr id="50" name="Rectangle: Single Corner Snipped 49">
            <a:extLst>
              <a:ext uri="{FF2B5EF4-FFF2-40B4-BE49-F238E27FC236}">
                <a16:creationId xmlns:a16="http://schemas.microsoft.com/office/drawing/2014/main" id="{79D89367-697A-AA6F-3A40-73409A5309BF}"/>
              </a:ext>
            </a:extLst>
          </p:cNvPr>
          <p:cNvSpPr/>
          <p:nvPr/>
        </p:nvSpPr>
        <p:spPr>
          <a:xfrm>
            <a:off x="1959254" y="1957838"/>
            <a:ext cx="2116616" cy="792603"/>
          </a:xfrm>
          <a:prstGeom prst="snip1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2.AUTHENTICATION FLOW</a:t>
            </a:r>
          </a:p>
        </p:txBody>
      </p:sp>
      <p:sp>
        <p:nvSpPr>
          <p:cNvPr id="51" name="Rectangle: Diagonal Corners Rounded 50">
            <a:extLst>
              <a:ext uri="{FF2B5EF4-FFF2-40B4-BE49-F238E27FC236}">
                <a16:creationId xmlns:a16="http://schemas.microsoft.com/office/drawing/2014/main" id="{65E6AEDE-8C82-09DF-00F0-DCD2605BA3CB}"/>
              </a:ext>
            </a:extLst>
          </p:cNvPr>
          <p:cNvSpPr/>
          <p:nvPr/>
        </p:nvSpPr>
        <p:spPr>
          <a:xfrm>
            <a:off x="5246282" y="2071617"/>
            <a:ext cx="2261940" cy="668959"/>
          </a:xfrm>
          <a:prstGeom prst="round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3. AFTER LOGIN</a:t>
            </a: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[MAIN DASHBOARD]</a:t>
            </a:r>
          </a:p>
        </p:txBody>
      </p:sp>
      <p:sp>
        <p:nvSpPr>
          <p:cNvPr id="53" name="Rectangle: Top Corners Snipped 52">
            <a:extLst>
              <a:ext uri="{FF2B5EF4-FFF2-40B4-BE49-F238E27FC236}">
                <a16:creationId xmlns:a16="http://schemas.microsoft.com/office/drawing/2014/main" id="{5C19D704-1FB0-764E-3439-E98F02726CEE}"/>
              </a:ext>
            </a:extLst>
          </p:cNvPr>
          <p:cNvSpPr/>
          <p:nvPr/>
        </p:nvSpPr>
        <p:spPr>
          <a:xfrm>
            <a:off x="8070743" y="2166462"/>
            <a:ext cx="2056705" cy="1090475"/>
          </a:xfrm>
          <a:prstGeom prst="snip2Same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u="sng" dirty="0">
                <a:latin typeface="Arial Black" panose="020B0A04020102020204" pitchFamily="34" charset="0"/>
                <a:cs typeface="Times New Roman" panose="02020603050405020304" pitchFamily="18" charset="0"/>
              </a:rPr>
              <a:t>4. 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Account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Settings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Log Out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Action Button: Go Forward or Next 5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31E9236-9A75-087F-DB1B-C374A1691CD3}"/>
              </a:ext>
            </a:extLst>
          </p:cNvPr>
          <p:cNvSpPr/>
          <p:nvPr/>
        </p:nvSpPr>
        <p:spPr>
          <a:xfrm>
            <a:off x="9963753" y="5111385"/>
            <a:ext cx="1926697" cy="1111841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189" tIns="29095" rIns="58189" bIns="290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6. MUSIC PLAYER</a:t>
            </a: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[BOTTOM BAR]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7930F06-67D8-A09C-0019-D6B50901011A}"/>
              </a:ext>
            </a:extLst>
          </p:cNvPr>
          <p:cNvSpPr/>
          <p:nvPr/>
        </p:nvSpPr>
        <p:spPr>
          <a:xfrm>
            <a:off x="4848684" y="7292839"/>
            <a:ext cx="1519853" cy="649355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7. FOOTER PUBLIC PAGES</a:t>
            </a:r>
          </a:p>
        </p:txBody>
      </p:sp>
      <p:sp>
        <p:nvSpPr>
          <p:cNvPr id="57" name="Arrow: Up 56">
            <a:extLst>
              <a:ext uri="{FF2B5EF4-FFF2-40B4-BE49-F238E27FC236}">
                <a16:creationId xmlns:a16="http://schemas.microsoft.com/office/drawing/2014/main" id="{CC71D9FA-CD9C-03F2-80A2-96EF84A4093B}"/>
              </a:ext>
            </a:extLst>
          </p:cNvPr>
          <p:cNvSpPr/>
          <p:nvPr/>
        </p:nvSpPr>
        <p:spPr>
          <a:xfrm>
            <a:off x="9515332" y="7075707"/>
            <a:ext cx="714629" cy="2379530"/>
          </a:xfrm>
          <a:prstGeom prst="up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8.</a:t>
            </a:r>
          </a:p>
          <a:p>
            <a:pPr algn="ctr"/>
            <a:endParaRPr lang="en-US" sz="12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PREMIUM </a:t>
            </a:r>
          </a:p>
        </p:txBody>
      </p:sp>
      <p:sp>
        <p:nvSpPr>
          <p:cNvPr id="58" name="Speech Bubble: Rectangle with Corners Rounded 57">
            <a:extLst>
              <a:ext uri="{FF2B5EF4-FFF2-40B4-BE49-F238E27FC236}">
                <a16:creationId xmlns:a16="http://schemas.microsoft.com/office/drawing/2014/main" id="{FEBAF21F-B9EC-BFAD-1136-9A24A245C296}"/>
              </a:ext>
            </a:extLst>
          </p:cNvPr>
          <p:cNvSpPr/>
          <p:nvPr/>
        </p:nvSpPr>
        <p:spPr>
          <a:xfrm>
            <a:off x="10766589" y="7248229"/>
            <a:ext cx="1902662" cy="765939"/>
          </a:xfrm>
          <a:prstGeom prst="wedgeRoundRectCallou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 9. ERROR PAGES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E5871C64-B60C-05DC-75EB-6321F10E5E5C}"/>
              </a:ext>
            </a:extLst>
          </p:cNvPr>
          <p:cNvSpPr/>
          <p:nvPr/>
        </p:nvSpPr>
        <p:spPr>
          <a:xfrm>
            <a:off x="69900" y="3197463"/>
            <a:ext cx="1889354" cy="1530953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u="sng" dirty="0"/>
              <a:t>TOP NAVIGATION BAR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Logo Icon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Search Bar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Premium Support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Sign Up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Log 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A71A68-DE93-02FB-0E94-6FA573DCA655}"/>
              </a:ext>
            </a:extLst>
          </p:cNvPr>
          <p:cNvCxnSpPr>
            <a:cxnSpLocks/>
          </p:cNvCxnSpPr>
          <p:nvPr/>
        </p:nvCxnSpPr>
        <p:spPr>
          <a:xfrm>
            <a:off x="734704" y="2881558"/>
            <a:ext cx="0" cy="318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D7394B7-3C24-9836-4376-7B4B965866A1}"/>
              </a:ext>
            </a:extLst>
          </p:cNvPr>
          <p:cNvSpPr/>
          <p:nvPr/>
        </p:nvSpPr>
        <p:spPr>
          <a:xfrm>
            <a:off x="3007780" y="3235915"/>
            <a:ext cx="4164561" cy="23676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User Details Form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b="1" dirty="0"/>
              <a:t>Checkbox		              ~Account Created</a:t>
            </a:r>
          </a:p>
          <a:p>
            <a:r>
              <a:rPr lang="en-US" sz="1200" b="1" dirty="0"/>
              <a:t>	(Terms &amp; Conditions)                Successfully</a:t>
            </a:r>
          </a:p>
          <a:p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/>
              <a:t> CREATE ACCOUNT	             ~Show Error Message</a:t>
            </a:r>
          </a:p>
          <a:p>
            <a:r>
              <a:rPr lang="en-US" sz="1200" b="1" dirty="0"/>
              <a:t>	BUTTON			</a:t>
            </a: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1F7CE367-50A6-12B1-F19B-C70DCDB0270B}"/>
              </a:ext>
            </a:extLst>
          </p:cNvPr>
          <p:cNvSpPr/>
          <p:nvPr/>
        </p:nvSpPr>
        <p:spPr>
          <a:xfrm>
            <a:off x="3378148" y="3244589"/>
            <a:ext cx="1843297" cy="655021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              A. SIGN UP &gt;&gt;&gt;</a:t>
            </a:r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67063E8A-0D32-AEF5-0A5F-9BE98F1D9811}"/>
              </a:ext>
            </a:extLst>
          </p:cNvPr>
          <p:cNvSpPr/>
          <p:nvPr/>
        </p:nvSpPr>
        <p:spPr>
          <a:xfrm>
            <a:off x="3477078" y="3438319"/>
            <a:ext cx="301943" cy="250728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?</a:t>
            </a:r>
          </a:p>
        </p:txBody>
      </p:sp>
      <p:sp>
        <p:nvSpPr>
          <p:cNvPr id="90" name="Diamond 89">
            <a:extLst>
              <a:ext uri="{FF2B5EF4-FFF2-40B4-BE49-F238E27FC236}">
                <a16:creationId xmlns:a16="http://schemas.microsoft.com/office/drawing/2014/main" id="{11D5DB06-D705-0FF2-486F-5E957DB4A57B}"/>
              </a:ext>
            </a:extLst>
          </p:cNvPr>
          <p:cNvSpPr/>
          <p:nvPr/>
        </p:nvSpPr>
        <p:spPr>
          <a:xfrm>
            <a:off x="5789849" y="3294342"/>
            <a:ext cx="1101606" cy="801853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YES?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40B5CEA-F44D-690F-9518-40FDB18DB750}"/>
              </a:ext>
            </a:extLst>
          </p:cNvPr>
          <p:cNvCxnSpPr>
            <a:cxnSpLocks/>
          </p:cNvCxnSpPr>
          <p:nvPr/>
        </p:nvCxnSpPr>
        <p:spPr>
          <a:xfrm>
            <a:off x="4481709" y="4942631"/>
            <a:ext cx="6811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D0F0241-9C1B-31E8-0175-21481388D73C}"/>
              </a:ext>
            </a:extLst>
          </p:cNvPr>
          <p:cNvCxnSpPr>
            <a:cxnSpLocks/>
          </p:cNvCxnSpPr>
          <p:nvPr/>
        </p:nvCxnSpPr>
        <p:spPr>
          <a:xfrm flipH="1">
            <a:off x="5212999" y="3658397"/>
            <a:ext cx="10428" cy="17983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4C10392-82D5-D203-CDB2-D841A4C1C1C5}"/>
              </a:ext>
            </a:extLst>
          </p:cNvPr>
          <p:cNvCxnSpPr/>
          <p:nvPr/>
        </p:nvCxnSpPr>
        <p:spPr>
          <a:xfrm>
            <a:off x="5233825" y="3696660"/>
            <a:ext cx="547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4FC04A0-511D-504B-1D68-22BE2F7CDA94}"/>
              </a:ext>
            </a:extLst>
          </p:cNvPr>
          <p:cNvCxnSpPr>
            <a:cxnSpLocks/>
          </p:cNvCxnSpPr>
          <p:nvPr/>
        </p:nvCxnSpPr>
        <p:spPr>
          <a:xfrm>
            <a:off x="5210379" y="5418457"/>
            <a:ext cx="568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Diamond 99">
            <a:extLst>
              <a:ext uri="{FF2B5EF4-FFF2-40B4-BE49-F238E27FC236}">
                <a16:creationId xmlns:a16="http://schemas.microsoft.com/office/drawing/2014/main" id="{0042D54A-810B-5CD7-3156-3A539ED537F9}"/>
              </a:ext>
            </a:extLst>
          </p:cNvPr>
          <p:cNvSpPr/>
          <p:nvPr/>
        </p:nvSpPr>
        <p:spPr>
          <a:xfrm>
            <a:off x="5808698" y="4778509"/>
            <a:ext cx="1101607" cy="716239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NO?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F71C461-DA9A-2008-5EBA-37E50E63B3D6}"/>
              </a:ext>
            </a:extLst>
          </p:cNvPr>
          <p:cNvCxnSpPr>
            <a:cxnSpLocks/>
          </p:cNvCxnSpPr>
          <p:nvPr/>
        </p:nvCxnSpPr>
        <p:spPr>
          <a:xfrm>
            <a:off x="5400739" y="4472767"/>
            <a:ext cx="16249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CF5258A-119F-1B76-8882-68AC30E4C5FB}"/>
              </a:ext>
            </a:extLst>
          </p:cNvPr>
          <p:cNvCxnSpPr>
            <a:cxnSpLocks/>
          </p:cNvCxnSpPr>
          <p:nvPr/>
        </p:nvCxnSpPr>
        <p:spPr>
          <a:xfrm>
            <a:off x="2746848" y="2740577"/>
            <a:ext cx="9903" cy="2303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E44349A-52B8-F482-993D-7904279912E2}"/>
              </a:ext>
            </a:extLst>
          </p:cNvPr>
          <p:cNvCxnSpPr>
            <a:cxnSpLocks/>
          </p:cNvCxnSpPr>
          <p:nvPr/>
        </p:nvCxnSpPr>
        <p:spPr>
          <a:xfrm>
            <a:off x="2743200" y="5058915"/>
            <a:ext cx="2892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Flowchart: Alternate Process 131">
            <a:extLst>
              <a:ext uri="{FF2B5EF4-FFF2-40B4-BE49-F238E27FC236}">
                <a16:creationId xmlns:a16="http://schemas.microsoft.com/office/drawing/2014/main" id="{40DB6F84-7179-04F0-C9C2-CD3CF5AEBBE7}"/>
              </a:ext>
            </a:extLst>
          </p:cNvPr>
          <p:cNvSpPr/>
          <p:nvPr/>
        </p:nvSpPr>
        <p:spPr>
          <a:xfrm>
            <a:off x="154113" y="6020367"/>
            <a:ext cx="4269678" cy="2818834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Credentials Form			 DASHBOARD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LOGIN BUTTON	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Correct Credentials ?			</a:t>
            </a:r>
          </a:p>
          <a:p>
            <a:pPr marL="2571750" lvl="5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Error: Incorrect Password</a:t>
            </a:r>
          </a:p>
          <a:p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endParaRPr lang="en-US" sz="1200" b="1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/>
              <a:t>Forgot Password – Email Verification – Reset Password – Back To Login</a:t>
            </a:r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3FBB1671-6D70-90B1-8C1F-7CC6AF85CB84}"/>
              </a:ext>
            </a:extLst>
          </p:cNvPr>
          <p:cNvSpPr/>
          <p:nvPr/>
        </p:nvSpPr>
        <p:spPr>
          <a:xfrm>
            <a:off x="425555" y="6146714"/>
            <a:ext cx="1676196" cy="517423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B. LOGIN FLOW &gt;&gt;&gt;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416E9CE-7595-56A3-F73C-8ACA78FFA10A}"/>
              </a:ext>
            </a:extLst>
          </p:cNvPr>
          <p:cNvCxnSpPr/>
          <p:nvPr/>
        </p:nvCxnSpPr>
        <p:spPr>
          <a:xfrm>
            <a:off x="2153920" y="7459890"/>
            <a:ext cx="3815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963C93A-F8BE-44AD-C2F7-152446024240}"/>
              </a:ext>
            </a:extLst>
          </p:cNvPr>
          <p:cNvCxnSpPr>
            <a:cxnSpLocks/>
          </p:cNvCxnSpPr>
          <p:nvPr/>
        </p:nvCxnSpPr>
        <p:spPr>
          <a:xfrm>
            <a:off x="2515151" y="6408897"/>
            <a:ext cx="20320" cy="1771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71ACB07-EF98-779B-6ABF-7B92D6EAD7F8}"/>
              </a:ext>
            </a:extLst>
          </p:cNvPr>
          <p:cNvCxnSpPr/>
          <p:nvPr/>
        </p:nvCxnSpPr>
        <p:spPr>
          <a:xfrm>
            <a:off x="2517535" y="6420355"/>
            <a:ext cx="571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ACF5675-27DC-E8BC-B923-675EDBD34D3C}"/>
              </a:ext>
            </a:extLst>
          </p:cNvPr>
          <p:cNvCxnSpPr/>
          <p:nvPr/>
        </p:nvCxnSpPr>
        <p:spPr>
          <a:xfrm>
            <a:off x="2508534" y="8180768"/>
            <a:ext cx="593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Diamond 141">
            <a:extLst>
              <a:ext uri="{FF2B5EF4-FFF2-40B4-BE49-F238E27FC236}">
                <a16:creationId xmlns:a16="http://schemas.microsoft.com/office/drawing/2014/main" id="{6BA454D2-8ABF-CCA3-9461-62F923791842}"/>
              </a:ext>
            </a:extLst>
          </p:cNvPr>
          <p:cNvSpPr/>
          <p:nvPr/>
        </p:nvSpPr>
        <p:spPr>
          <a:xfrm>
            <a:off x="3083211" y="6053663"/>
            <a:ext cx="1073753" cy="710468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YES?</a:t>
            </a: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5699FA7C-D65D-5059-49D5-AAE055EDC0EB}"/>
              </a:ext>
            </a:extLst>
          </p:cNvPr>
          <p:cNvSpPr/>
          <p:nvPr/>
        </p:nvSpPr>
        <p:spPr>
          <a:xfrm>
            <a:off x="3121510" y="7775207"/>
            <a:ext cx="1026158" cy="787082"/>
          </a:xfrm>
          <a:prstGeom prst="diamon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NO?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5583D31-ECCB-4B4D-B27C-3C601C53D3D4}"/>
              </a:ext>
            </a:extLst>
          </p:cNvPr>
          <p:cNvCxnSpPr>
            <a:cxnSpLocks/>
          </p:cNvCxnSpPr>
          <p:nvPr/>
        </p:nvCxnSpPr>
        <p:spPr>
          <a:xfrm>
            <a:off x="2717963" y="7209217"/>
            <a:ext cx="1518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5D9373D-6DB8-2AD1-BE10-495502A06560}"/>
              </a:ext>
            </a:extLst>
          </p:cNvPr>
          <p:cNvCxnSpPr>
            <a:cxnSpLocks/>
          </p:cNvCxnSpPr>
          <p:nvPr/>
        </p:nvCxnSpPr>
        <p:spPr>
          <a:xfrm>
            <a:off x="2377101" y="2740577"/>
            <a:ext cx="0" cy="25148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DE83B1A-AA48-6443-C95D-E3ADD3D09D43}"/>
              </a:ext>
            </a:extLst>
          </p:cNvPr>
          <p:cNvCxnSpPr>
            <a:cxnSpLocks/>
          </p:cNvCxnSpPr>
          <p:nvPr/>
        </p:nvCxnSpPr>
        <p:spPr>
          <a:xfrm flipH="1" flipV="1">
            <a:off x="1024759" y="5239689"/>
            <a:ext cx="1352342" cy="15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7CC7AB60-6BFF-90CB-E30B-19CE80324D78}"/>
              </a:ext>
            </a:extLst>
          </p:cNvPr>
          <p:cNvCxnSpPr>
            <a:cxnSpLocks/>
          </p:cNvCxnSpPr>
          <p:nvPr/>
        </p:nvCxnSpPr>
        <p:spPr>
          <a:xfrm>
            <a:off x="1024724" y="5255455"/>
            <a:ext cx="0" cy="717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3B2B79F4-5DE4-E53E-3474-B4F4C173E89B}"/>
              </a:ext>
            </a:extLst>
          </p:cNvPr>
          <p:cNvSpPr/>
          <p:nvPr/>
        </p:nvSpPr>
        <p:spPr>
          <a:xfrm>
            <a:off x="7608717" y="3710236"/>
            <a:ext cx="1657275" cy="10168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Home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Search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Your Library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Create Playlist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b="1" dirty="0"/>
              <a:t>Liked Songs</a:t>
            </a:r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BBA1266-2F37-EFD0-ED40-C54C96AE24D0}"/>
              </a:ext>
            </a:extLst>
          </p:cNvPr>
          <p:cNvCxnSpPr>
            <a:cxnSpLocks/>
          </p:cNvCxnSpPr>
          <p:nvPr/>
        </p:nvCxnSpPr>
        <p:spPr>
          <a:xfrm>
            <a:off x="12075224" y="1790711"/>
            <a:ext cx="33405" cy="47095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526DCB26-5AC3-4738-77DB-FA2E746A10D1}"/>
              </a:ext>
            </a:extLst>
          </p:cNvPr>
          <p:cNvCxnSpPr>
            <a:cxnSpLocks/>
          </p:cNvCxnSpPr>
          <p:nvPr/>
        </p:nvCxnSpPr>
        <p:spPr>
          <a:xfrm flipH="1">
            <a:off x="12318067" y="1780980"/>
            <a:ext cx="24922" cy="50394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58274272-726C-C208-FF6E-5DA330AE7335}"/>
              </a:ext>
            </a:extLst>
          </p:cNvPr>
          <p:cNvCxnSpPr>
            <a:cxnSpLocks/>
          </p:cNvCxnSpPr>
          <p:nvPr/>
        </p:nvCxnSpPr>
        <p:spPr>
          <a:xfrm>
            <a:off x="12584547" y="1790711"/>
            <a:ext cx="2551" cy="50918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C52854DA-BBC6-8972-DF21-8FEA88E1AF13}"/>
              </a:ext>
            </a:extLst>
          </p:cNvPr>
          <p:cNvSpPr/>
          <p:nvPr/>
        </p:nvSpPr>
        <p:spPr>
          <a:xfrm>
            <a:off x="7926255" y="5074106"/>
            <a:ext cx="1741748" cy="125096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Song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Artist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Album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Play &amp; Pause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Next &amp; Previous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Shuffle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0259DB64-2701-C362-FB48-24733D6503FE}"/>
              </a:ext>
            </a:extLst>
          </p:cNvPr>
          <p:cNvCxnSpPr>
            <a:cxnSpLocks/>
            <a:stCxn id="54" idx="2"/>
            <a:endCxn id="221" idx="3"/>
          </p:cNvCxnSpPr>
          <p:nvPr/>
        </p:nvCxnSpPr>
        <p:spPr>
          <a:xfrm flipH="1">
            <a:off x="9668003" y="5667306"/>
            <a:ext cx="295750" cy="32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1809E799-BEBB-E4DF-F378-37DD6ADE62FE}"/>
              </a:ext>
            </a:extLst>
          </p:cNvPr>
          <p:cNvSpPr/>
          <p:nvPr/>
        </p:nvSpPr>
        <p:spPr>
          <a:xfrm>
            <a:off x="4744315" y="8332435"/>
            <a:ext cx="1754010" cy="89643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Company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Communities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Useful Links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b="1" dirty="0"/>
              <a:t>Spotify Plans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1A64185-DD13-54B0-1993-9C0863074764}"/>
              </a:ext>
            </a:extLst>
          </p:cNvPr>
          <p:cNvCxnSpPr>
            <a:cxnSpLocks/>
          </p:cNvCxnSpPr>
          <p:nvPr/>
        </p:nvCxnSpPr>
        <p:spPr>
          <a:xfrm flipV="1">
            <a:off x="5590840" y="6512325"/>
            <a:ext cx="6516138" cy="472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EC1DE652-5665-EF40-25F5-C6ECD3151AE8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5608611" y="6559624"/>
            <a:ext cx="8924" cy="733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EDF19A66-940A-DAC9-982F-C667D6D85B66}"/>
              </a:ext>
            </a:extLst>
          </p:cNvPr>
          <p:cNvCxnSpPr>
            <a:cxnSpLocks/>
            <a:stCxn id="56" idx="2"/>
            <a:endCxn id="232" idx="0"/>
          </p:cNvCxnSpPr>
          <p:nvPr/>
        </p:nvCxnSpPr>
        <p:spPr>
          <a:xfrm>
            <a:off x="5608611" y="7942194"/>
            <a:ext cx="12709" cy="390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4E8940BB-E6DA-F278-308E-A07326E89B25}"/>
              </a:ext>
            </a:extLst>
          </p:cNvPr>
          <p:cNvCxnSpPr>
            <a:cxnSpLocks/>
          </p:cNvCxnSpPr>
          <p:nvPr/>
        </p:nvCxnSpPr>
        <p:spPr>
          <a:xfrm flipV="1">
            <a:off x="9872647" y="6820423"/>
            <a:ext cx="2433492" cy="49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5F71859F-159E-B162-7A6A-71CD00A18BFA}"/>
              </a:ext>
            </a:extLst>
          </p:cNvPr>
          <p:cNvCxnSpPr>
            <a:cxnSpLocks/>
          </p:cNvCxnSpPr>
          <p:nvPr/>
        </p:nvCxnSpPr>
        <p:spPr>
          <a:xfrm flipH="1">
            <a:off x="9854786" y="6826216"/>
            <a:ext cx="12404" cy="270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4F33889-97B1-38D0-BDC1-3B8E57C0D94B}"/>
              </a:ext>
            </a:extLst>
          </p:cNvPr>
          <p:cNvCxnSpPr>
            <a:cxnSpLocks/>
          </p:cNvCxnSpPr>
          <p:nvPr/>
        </p:nvCxnSpPr>
        <p:spPr>
          <a:xfrm flipH="1">
            <a:off x="12573699" y="6875657"/>
            <a:ext cx="5391" cy="37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4" name="Speech Bubble: Rectangle with Corners Rounded 293">
            <a:extLst>
              <a:ext uri="{FF2B5EF4-FFF2-40B4-BE49-F238E27FC236}">
                <a16:creationId xmlns:a16="http://schemas.microsoft.com/office/drawing/2014/main" id="{F9B7CB52-7D0D-E6DC-F2A4-151A751C90C0}"/>
              </a:ext>
            </a:extLst>
          </p:cNvPr>
          <p:cNvSpPr/>
          <p:nvPr/>
        </p:nvSpPr>
        <p:spPr>
          <a:xfrm>
            <a:off x="10642000" y="8351358"/>
            <a:ext cx="2018141" cy="904970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404 Page Not Found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Server Error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Payment Failed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/>
              <a:t>Login Failed</a:t>
            </a:r>
          </a:p>
        </p:txBody>
      </p: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8136FEE2-7A1B-0D74-E39B-70AEA1B11647}"/>
              </a:ext>
            </a:extLst>
          </p:cNvPr>
          <p:cNvCxnSpPr>
            <a:cxnSpLocks/>
          </p:cNvCxnSpPr>
          <p:nvPr/>
        </p:nvCxnSpPr>
        <p:spPr>
          <a:xfrm flipH="1">
            <a:off x="9061961" y="8320386"/>
            <a:ext cx="647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63CBD221-DA43-15E2-194C-0311DD3B303D}"/>
              </a:ext>
            </a:extLst>
          </p:cNvPr>
          <p:cNvCxnSpPr>
            <a:cxnSpLocks/>
          </p:cNvCxnSpPr>
          <p:nvPr/>
        </p:nvCxnSpPr>
        <p:spPr>
          <a:xfrm>
            <a:off x="11882149" y="8026221"/>
            <a:ext cx="1" cy="25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6" name="Graphic 325" descr="Lock with solid fill">
            <a:extLst>
              <a:ext uri="{FF2B5EF4-FFF2-40B4-BE49-F238E27FC236}">
                <a16:creationId xmlns:a16="http://schemas.microsoft.com/office/drawing/2014/main" id="{58E347FB-5B04-4783-A186-4A3CAB286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2044" y="2349926"/>
            <a:ext cx="355069" cy="355069"/>
          </a:xfrm>
          <a:prstGeom prst="rect">
            <a:avLst/>
          </a:prstGeom>
        </p:spPr>
      </p:pic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7ADEC614-EAA8-5487-1F2D-93EC3974EA09}"/>
              </a:ext>
            </a:extLst>
          </p:cNvPr>
          <p:cNvCxnSpPr>
            <a:cxnSpLocks/>
          </p:cNvCxnSpPr>
          <p:nvPr/>
        </p:nvCxnSpPr>
        <p:spPr>
          <a:xfrm>
            <a:off x="11557458" y="1780980"/>
            <a:ext cx="0" cy="331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8" name="Graphic 337" descr="User with solid fill">
            <a:extLst>
              <a:ext uri="{FF2B5EF4-FFF2-40B4-BE49-F238E27FC236}">
                <a16:creationId xmlns:a16="http://schemas.microsoft.com/office/drawing/2014/main" id="{74C22391-F417-3CAA-5F45-B9E192D71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8220" y="2212029"/>
            <a:ext cx="400422" cy="400422"/>
          </a:xfrm>
          <a:prstGeom prst="rect">
            <a:avLst/>
          </a:prstGeom>
        </p:spPr>
      </p:pic>
      <p:pic>
        <p:nvPicPr>
          <p:cNvPr id="340" name="Graphic 339" descr="Music notes with solid fill">
            <a:extLst>
              <a:ext uri="{FF2B5EF4-FFF2-40B4-BE49-F238E27FC236}">
                <a16:creationId xmlns:a16="http://schemas.microsoft.com/office/drawing/2014/main" id="{3008A1FA-6D7D-130A-9DFA-61CF7C0A69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88348" y="5099333"/>
            <a:ext cx="390855" cy="356897"/>
          </a:xfrm>
          <a:prstGeom prst="rect">
            <a:avLst/>
          </a:prstGeom>
        </p:spPr>
      </p:pic>
      <p:pic>
        <p:nvPicPr>
          <p:cNvPr id="348" name="Graphic 347" descr="Crown with solid fill">
            <a:extLst>
              <a:ext uri="{FF2B5EF4-FFF2-40B4-BE49-F238E27FC236}">
                <a16:creationId xmlns:a16="http://schemas.microsoft.com/office/drawing/2014/main" id="{D888887C-7872-B470-BE26-F6227793A8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53704" y="7221945"/>
            <a:ext cx="308927" cy="308927"/>
          </a:xfrm>
          <a:prstGeom prst="rect">
            <a:avLst/>
          </a:prstGeom>
        </p:spPr>
      </p:pic>
      <p:pic>
        <p:nvPicPr>
          <p:cNvPr id="350" name="Graphic 349" descr="Close with solid fill">
            <a:extLst>
              <a:ext uri="{FF2B5EF4-FFF2-40B4-BE49-F238E27FC236}">
                <a16:creationId xmlns:a16="http://schemas.microsoft.com/office/drawing/2014/main" id="{60D3770D-E517-7A24-B9BE-C7BBFBD823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40955" y="7672388"/>
            <a:ext cx="302929" cy="302929"/>
          </a:xfrm>
          <a:prstGeom prst="rect">
            <a:avLst/>
          </a:prstGeom>
        </p:spPr>
      </p:pic>
      <p:pic>
        <p:nvPicPr>
          <p:cNvPr id="353" name="Graphic 352" descr="Warning with solid fill">
            <a:extLst>
              <a:ext uri="{FF2B5EF4-FFF2-40B4-BE49-F238E27FC236}">
                <a16:creationId xmlns:a16="http://schemas.microsoft.com/office/drawing/2014/main" id="{CB6B8926-C82F-5002-4054-943139EA92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84335" y="7260282"/>
            <a:ext cx="339285" cy="33928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A6CEBF-E7BE-702F-A013-E9AE6D58C339}"/>
              </a:ext>
            </a:extLst>
          </p:cNvPr>
          <p:cNvSpPr/>
          <p:nvPr/>
        </p:nvSpPr>
        <p:spPr>
          <a:xfrm>
            <a:off x="6970829" y="7376408"/>
            <a:ext cx="2085856" cy="193731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u="sng" dirty="0"/>
              <a:t>PREMIUM               VIEW PLANS</a:t>
            </a:r>
          </a:p>
          <a:p>
            <a:endParaRPr lang="en-US" sz="1200" b="1" u="sng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Individual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Student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Duo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/>
              <a:t>Family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1" dirty="0"/>
          </a:p>
          <a:p>
            <a:r>
              <a:rPr lang="en-US" sz="1200" b="1" u="sng" dirty="0"/>
              <a:t>PAYMENT PAGE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1DC134-9D5C-D31A-267E-C9DFEDA6760B}"/>
              </a:ext>
            </a:extLst>
          </p:cNvPr>
          <p:cNvCxnSpPr>
            <a:cxnSpLocks/>
          </p:cNvCxnSpPr>
          <p:nvPr/>
        </p:nvCxnSpPr>
        <p:spPr>
          <a:xfrm>
            <a:off x="7909280" y="7612289"/>
            <a:ext cx="365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Arrow: Left 86">
            <a:extLst>
              <a:ext uri="{FF2B5EF4-FFF2-40B4-BE49-F238E27FC236}">
                <a16:creationId xmlns:a16="http://schemas.microsoft.com/office/drawing/2014/main" id="{E87ADE40-9319-3A0D-5550-DE422D471A8E}"/>
              </a:ext>
            </a:extLst>
          </p:cNvPr>
          <p:cNvSpPr/>
          <p:nvPr/>
        </p:nvSpPr>
        <p:spPr>
          <a:xfrm>
            <a:off x="9802620" y="3889433"/>
            <a:ext cx="1518198" cy="621223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  5. SIDEBAR</a:t>
            </a:r>
            <a:endParaRPr lang="en-US" sz="1200" b="1" dirty="0"/>
          </a:p>
        </p:txBody>
      </p:sp>
      <p:pic>
        <p:nvPicPr>
          <p:cNvPr id="88" name="Graphic 87" descr="Books with solid fill">
            <a:extLst>
              <a:ext uri="{FF2B5EF4-FFF2-40B4-BE49-F238E27FC236}">
                <a16:creationId xmlns:a16="http://schemas.microsoft.com/office/drawing/2014/main" id="{6AFBE3DA-8C64-6047-4BFB-71B1921310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22000" y="4061963"/>
            <a:ext cx="271665" cy="271665"/>
          </a:xfrm>
          <a:prstGeom prst="rect">
            <a:avLst/>
          </a:prstGeom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2C4514B-A962-F736-CC63-DBF992FA66A2}"/>
              </a:ext>
            </a:extLst>
          </p:cNvPr>
          <p:cNvCxnSpPr>
            <a:cxnSpLocks/>
          </p:cNvCxnSpPr>
          <p:nvPr/>
        </p:nvCxnSpPr>
        <p:spPr>
          <a:xfrm flipH="1">
            <a:off x="9251846" y="4218640"/>
            <a:ext cx="550814" cy="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2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206</Words>
  <Application>Microsoft Office PowerPoint</Application>
  <PresentationFormat>A3 Paper (297x420 mm)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Parida</dc:creator>
  <cp:lastModifiedBy>Swati Parida</cp:lastModifiedBy>
  <cp:revision>4</cp:revision>
  <dcterms:created xsi:type="dcterms:W3CDTF">2026-02-13T16:41:01Z</dcterms:created>
  <dcterms:modified xsi:type="dcterms:W3CDTF">2026-02-14T16:56:09Z</dcterms:modified>
</cp:coreProperties>
</file>